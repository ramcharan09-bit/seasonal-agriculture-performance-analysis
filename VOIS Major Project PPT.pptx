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AB759A-2B4B-4D74-8F84-7D1F1CD4F15A}" v="2" dt="2026-09-08T06:11:56.108"/>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MCHARAN JUKANTI" userId="717a61c4c62e125b" providerId="LiveId" clId="{42D8D6DA-BD24-47CA-9F98-8A993D9D1B22}"/>
    <pc:docChg chg="modSld">
      <pc:chgData name="RAMCHARAN JUKANTI" userId="717a61c4c62e125b" providerId="LiveId" clId="{42D8D6DA-BD24-47CA-9F98-8A993D9D1B22}" dt="2026-09-08T06:12:25.238" v="4" actId="14100"/>
      <pc:docMkLst>
        <pc:docMk/>
      </pc:docMkLst>
      <pc:sldChg chg="addSp modSp mod">
        <pc:chgData name="RAMCHARAN JUKANTI" userId="717a61c4c62e125b" providerId="LiveId" clId="{42D8D6DA-BD24-47CA-9F98-8A993D9D1B22}" dt="2026-09-08T06:12:25.238" v="4" actId="14100"/>
        <pc:sldMkLst>
          <pc:docMk/>
          <pc:sldMk cId="3863610428" sldId="342"/>
        </pc:sldMkLst>
        <pc:spChg chg="add mod">
          <ac:chgData name="RAMCHARAN JUKANTI" userId="717a61c4c62e125b" providerId="LiveId" clId="{42D8D6DA-BD24-47CA-9F98-8A993D9D1B22}" dt="2026-09-08T06:12:25.238" v="4" actId="14100"/>
          <ac:spMkLst>
            <pc:docMk/>
            <pc:sldMk cId="3863610428" sldId="342"/>
            <ac:spMk id="2" creationId="{4F753C43-54C8-4009-60CD-56B7B3D02A6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10547" y="3655498"/>
            <a:ext cx="4833257" cy="1103114"/>
          </a:xfrm>
        </p:spPr>
        <p:txBody>
          <a:bodyPr vert="horz" lIns="91440" tIns="45720" rIns="91440" bIns="45720" rtlCol="0" anchor="t">
            <a:normAutofit lnSpcReduction="10000"/>
          </a:bodyPr>
          <a:lstStyle/>
          <a:p>
            <a:pPr algn="r"/>
            <a:r>
              <a:rPr lang="en-US" sz="1800" dirty="0">
                <a:solidFill>
                  <a:schemeClr val="tx1"/>
                </a:solidFill>
              </a:rPr>
              <a:t>STUDENT NAME</a:t>
            </a:r>
            <a:r>
              <a:rPr lang="en-US" dirty="0">
                <a:solidFill>
                  <a:schemeClr val="tx1"/>
                </a:solidFill>
              </a:rPr>
              <a:t>: </a:t>
            </a:r>
            <a:r>
              <a:rPr lang="en-US" b="0" dirty="0">
                <a:solidFill>
                  <a:schemeClr val="tx1"/>
                </a:solidFill>
              </a:rPr>
              <a:t>JUKANTI RAMCHARAN</a:t>
            </a:r>
          </a:p>
          <a:p>
            <a:pPr algn="r"/>
            <a:r>
              <a:rPr lang="en-US" dirty="0">
                <a:solidFill>
                  <a:schemeClr val="tx1"/>
                </a:solidFill>
              </a:rPr>
              <a:t>COLLEGE NAME: </a:t>
            </a:r>
            <a:r>
              <a:rPr lang="en-US" b="0" dirty="0">
                <a:solidFill>
                  <a:schemeClr val="tx1"/>
                </a:solidFill>
              </a:rPr>
              <a:t>VAAGDEVI COLLEGE OF ENGINEERING</a:t>
            </a:r>
          </a:p>
          <a:p>
            <a:pPr algn="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307911" y="2715208"/>
            <a:ext cx="11140750" cy="615821"/>
          </a:xfrm>
        </p:spPr>
        <p:txBody>
          <a:bodyPr>
            <a:normAutofit/>
          </a:bodyPr>
          <a:lstStyle/>
          <a:p>
            <a:r>
              <a:rPr lang="en-GB" sz="3200" b="1" dirty="0"/>
              <a:t>Project Title </a:t>
            </a:r>
            <a:r>
              <a:rPr lang="en-GB"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rot="10800000" flipV="1">
            <a:off x="410547" y="4877383"/>
            <a:ext cx="6167534" cy="369332"/>
          </a:xfrm>
          <a:prstGeom prst="rect">
            <a:avLst/>
          </a:prstGeom>
          <a:noFill/>
        </p:spPr>
        <p:txBody>
          <a:bodyPr wrap="square" rtlCol="0">
            <a:spAutoFit/>
          </a:bodyPr>
          <a:lstStyle/>
          <a:p>
            <a:r>
              <a:rPr lang="en-US" b="1" dirty="0"/>
              <a:t>AICTE STU ID : </a:t>
            </a:r>
            <a:r>
              <a:rPr lang="en-IN" dirty="0"/>
              <a:t>STU6a3009b7a197d1781533111</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578499" y="1931437"/>
            <a:ext cx="9731828" cy="4263805"/>
          </a:xfrm>
        </p:spPr>
        <p:txBody>
          <a:bodyPr vert="horz" lIns="91440" tIns="45720" rIns="91440" bIns="45720" rtlCol="0" anchor="t">
            <a:noAutofit/>
          </a:bodyPr>
          <a:lstStyle/>
          <a:p>
            <a:pPr>
              <a:lnSpc>
                <a:spcPct val="100000"/>
              </a:lnSpc>
            </a:pPr>
            <a:r>
              <a:rPr lang="en-US" dirty="0"/>
              <a:t>Agricultural activities are influenced by seasonal variations in environmental conditions, farming practices, resource availability and market conditions</a:t>
            </a:r>
          </a:p>
          <a:p>
            <a:pPr>
              <a:lnSpc>
                <a:spcPct val="100000"/>
              </a:lnSpc>
            </a:pPr>
            <a:r>
              <a:rPr lang="en-US" dirty="0"/>
              <a:t> As a result, agricultural performance may differ from one season to another</a:t>
            </a:r>
          </a:p>
          <a:p>
            <a:pPr>
              <a:lnSpc>
                <a:spcPct val="100000"/>
              </a:lnSpc>
            </a:pPr>
            <a:r>
              <a:rPr lang="en-US" dirty="0"/>
              <a:t> However, raw agricultural data does not clearly explain how agricultural performance changes across seasons or what patterns can be observed in different seasonal conditions</a:t>
            </a:r>
          </a:p>
          <a:p>
            <a:pPr>
              <a:lnSpc>
                <a:spcPct val="100000"/>
              </a:lnSpc>
            </a:pPr>
            <a:r>
              <a:rPr lang="en-US" dirty="0"/>
              <a:t> The problem is to analyze the given agricultural dataset and investigate seasonal differences in agricultural performance by identifying meaningful patterns, trends, relationships and variations within the available data</a:t>
            </a:r>
            <a:endParaRPr lang="en-IN"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628126" y="503764"/>
            <a:ext cx="6995604" cy="790111"/>
          </a:xfrm>
        </p:spPr>
        <p:txBody>
          <a:bodyPr>
            <a:normAutofit/>
          </a:bodyPr>
          <a:lstStyle/>
          <a:p>
            <a:r>
              <a:rPr lang="en-US" sz="3200" dirty="0"/>
              <a:t>PROBLEM  STATEMENT</a:t>
            </a:r>
            <a:endParaRPr lang="en-IN" sz="3200"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9431242" y="3601616"/>
            <a:ext cx="2760758" cy="3091793"/>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335903" y="805213"/>
            <a:ext cx="6600606" cy="920949"/>
          </a:xfrm>
        </p:spPr>
        <p:txBody>
          <a:bodyPr>
            <a:noAutofit/>
          </a:bodyPr>
          <a:lstStyle/>
          <a:p>
            <a:r>
              <a:rPr lang="en-GB" sz="3200" dirty="0"/>
              <a:t>PROJECT DESCRIPTION</a:t>
            </a:r>
            <a:br>
              <a:rPr lang="en-GB" sz="3600" dirty="0"/>
            </a:br>
            <a:br>
              <a:rPr lang="en-GB" sz="2800" b="0" dirty="0"/>
            </a:br>
            <a:endParaRPr lang="en-IN" sz="2800"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5AC16F61-2EA8-28F4-088E-EE05DE17FBB4}"/>
              </a:ext>
            </a:extLst>
          </p:cNvPr>
          <p:cNvSpPr txBox="1"/>
          <p:nvPr/>
        </p:nvSpPr>
        <p:spPr>
          <a:xfrm>
            <a:off x="675957" y="2690336"/>
            <a:ext cx="10949986" cy="1938992"/>
          </a:xfrm>
          <a:prstGeom prst="rect">
            <a:avLst/>
          </a:prstGeom>
          <a:noFill/>
        </p:spPr>
        <p:txBody>
          <a:bodyPr wrap="square">
            <a:spAutoFit/>
          </a:bodyPr>
          <a:lstStyle/>
          <a:p>
            <a:r>
              <a:rPr lang="en-US" sz="2400" dirty="0">
                <a:solidFill>
                  <a:schemeClr val="tx1">
                    <a:lumMod val="65000"/>
                    <a:lumOff val="35000"/>
                  </a:schemeClr>
                </a:solidFill>
              </a:rPr>
              <a:t>The project “</a:t>
            </a:r>
            <a:r>
              <a:rPr lang="en-US" sz="2400" b="1" dirty="0">
                <a:solidFill>
                  <a:schemeClr val="tx1">
                    <a:lumMod val="65000"/>
                    <a:lumOff val="35000"/>
                  </a:schemeClr>
                </a:solidFill>
              </a:rPr>
              <a:t>Seasonal Agriculture Performance Analysis</a:t>
            </a:r>
            <a:r>
              <a:rPr lang="en-US" sz="2400" dirty="0">
                <a:solidFill>
                  <a:schemeClr val="tx1">
                    <a:lumMod val="65000"/>
                    <a:lumOff val="35000"/>
                  </a:schemeClr>
                </a:solidFill>
              </a:rPr>
              <a:t>” focuses on analyzing agricultural data collected across different seasons, geographical areas, and farming conditions. The dataset contains information about farming practices, environmental conditions, crop production, resource usage, and economic performance</a:t>
            </a:r>
            <a:endParaRPr lang="en-IN" sz="2400" dirty="0">
              <a:solidFill>
                <a:schemeClr val="tx1">
                  <a:lumMod val="65000"/>
                  <a:lumOff val="35000"/>
                </a:schemeClr>
              </a:solidFill>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2379306"/>
            <a:ext cx="9756919" cy="3797497"/>
          </a:xfrm>
        </p:spPr>
        <p:txBody>
          <a:bodyPr>
            <a:normAutofit fontScale="70000" lnSpcReduction="20000"/>
          </a:bodyPr>
          <a:lstStyle/>
          <a:p>
            <a:pPr lvl="0"/>
            <a:r>
              <a:rPr lang="en-IN" sz="3600" b="1" dirty="0"/>
              <a:t>Farmers</a:t>
            </a:r>
            <a:r>
              <a:rPr lang="en-IN" sz="3600" dirty="0"/>
              <a:t> – To understand seasonal agricultural performance and improve planning </a:t>
            </a:r>
          </a:p>
          <a:p>
            <a:pPr lvl="0"/>
            <a:r>
              <a:rPr lang="en-IN" sz="3600" b="1" dirty="0"/>
              <a:t>Agricultural planners</a:t>
            </a:r>
            <a:r>
              <a:rPr lang="en-IN" sz="3600" dirty="0"/>
              <a:t> – To support evidence-based seasonal planning</a:t>
            </a:r>
          </a:p>
          <a:p>
            <a:pPr lvl="0"/>
            <a:r>
              <a:rPr lang="en-IN" sz="3600" b="1" dirty="0"/>
              <a:t>Agricultural organizations</a:t>
            </a:r>
            <a:r>
              <a:rPr lang="en-IN" sz="3600" dirty="0"/>
              <a:t>– To compare seasonal performance and resource usage</a:t>
            </a:r>
          </a:p>
          <a:p>
            <a:pPr lvl="0"/>
            <a:r>
              <a:rPr lang="en-IN" sz="3600" b="1" dirty="0"/>
              <a:t>Researchers and data analysts</a:t>
            </a:r>
            <a:r>
              <a:rPr lang="en-IN" sz="3600" dirty="0"/>
              <a:t> – To study agricultural patterns, trends, and relationships</a:t>
            </a:r>
          </a:p>
          <a:p>
            <a:pPr lvl="0"/>
            <a:r>
              <a:rPr lang="en-IN" sz="3600" b="1" dirty="0"/>
              <a:t>Students/educational institutions</a:t>
            </a:r>
            <a:r>
              <a:rPr lang="en-IN" sz="3600" dirty="0"/>
              <a:t> – To learn and demonstrate real-world data analytics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942392" y="1511559"/>
            <a:ext cx="8475927" cy="5164449"/>
          </a:xfrm>
        </p:spPr>
        <p:txBody>
          <a:bodyPr/>
          <a:lstStyle/>
          <a:p>
            <a:pPr lvl="0"/>
            <a:r>
              <a:rPr lang="en-IN" b="1" dirty="0"/>
              <a:t>Python</a:t>
            </a:r>
            <a:r>
              <a:rPr lang="en-IN" dirty="0"/>
              <a:t> </a:t>
            </a:r>
          </a:p>
          <a:p>
            <a:pPr lvl="0"/>
            <a:r>
              <a:rPr lang="en-IN" b="1" dirty="0"/>
              <a:t>Google </a:t>
            </a:r>
            <a:r>
              <a:rPr lang="en-IN" b="1" dirty="0" err="1"/>
              <a:t>Colab</a:t>
            </a:r>
            <a:r>
              <a:rPr lang="en-IN" dirty="0"/>
              <a:t> </a:t>
            </a:r>
          </a:p>
          <a:p>
            <a:pPr lvl="0"/>
            <a:r>
              <a:rPr lang="en-IN" b="1" dirty="0"/>
              <a:t>Pandas</a:t>
            </a:r>
            <a:r>
              <a:rPr lang="en-IN" dirty="0"/>
              <a:t> – Data handling and cleaning </a:t>
            </a:r>
          </a:p>
          <a:p>
            <a:pPr lvl="0"/>
            <a:r>
              <a:rPr lang="en-IN" b="1" dirty="0"/>
              <a:t>NumPy</a:t>
            </a:r>
            <a:r>
              <a:rPr lang="en-IN" dirty="0"/>
              <a:t> – Numerical operations </a:t>
            </a:r>
          </a:p>
          <a:p>
            <a:pPr lvl="0"/>
            <a:r>
              <a:rPr lang="en-IN" b="1" dirty="0"/>
              <a:t>Matplotlib / Seaborn</a:t>
            </a:r>
            <a:r>
              <a:rPr lang="en-IN" dirty="0"/>
              <a:t> – Data Visualization </a:t>
            </a:r>
          </a:p>
          <a:p>
            <a:pPr lvl="0"/>
            <a:r>
              <a:rPr lang="en-IN" b="1" dirty="0"/>
              <a:t>Statistical analysis</a:t>
            </a:r>
            <a:r>
              <a:rPr lang="en-IN" dirty="0"/>
              <a:t> – Understanding patterns and relationships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sz="3200"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sz="3200" dirty="0"/>
              <a:t>RESULTS </a:t>
            </a:r>
            <a:endParaRPr lang="en-IN" sz="3200"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715C876E-9E74-719B-9111-5D418BA7B85B}"/>
              </a:ext>
            </a:extLst>
          </p:cNvPr>
          <p:cNvPicPr>
            <a:picLocks noChangeAspect="1"/>
          </p:cNvPicPr>
          <p:nvPr/>
        </p:nvPicPr>
        <p:blipFill>
          <a:blip r:embed="rId3"/>
          <a:stretch>
            <a:fillRect/>
          </a:stretch>
        </p:blipFill>
        <p:spPr>
          <a:xfrm>
            <a:off x="817980" y="802433"/>
            <a:ext cx="8643262" cy="4254760"/>
          </a:xfrm>
          <a:prstGeom prst="rect">
            <a:avLst/>
          </a:prstGeom>
        </p:spPr>
      </p:pic>
      <p:sp>
        <p:nvSpPr>
          <p:cNvPr id="3" name="TextBox 2">
            <a:extLst>
              <a:ext uri="{FF2B5EF4-FFF2-40B4-BE49-F238E27FC236}">
                <a16:creationId xmlns:a16="http://schemas.microsoft.com/office/drawing/2014/main" id="{1DC1DBD5-D7F1-20E9-9500-E480D9C74E50}"/>
              </a:ext>
            </a:extLst>
          </p:cNvPr>
          <p:cNvSpPr txBox="1"/>
          <p:nvPr/>
        </p:nvSpPr>
        <p:spPr>
          <a:xfrm>
            <a:off x="447869" y="5057193"/>
            <a:ext cx="9666515" cy="1600438"/>
          </a:xfrm>
          <a:prstGeom prst="rect">
            <a:avLst/>
          </a:prstGeom>
          <a:noFill/>
        </p:spPr>
        <p:txBody>
          <a:bodyPr wrap="square" rtlCol="0">
            <a:spAutoFit/>
          </a:bodyPr>
          <a:lstStyle/>
          <a:p>
            <a:pPr marL="285750" indent="-285750">
              <a:buClr>
                <a:schemeClr val="accent4"/>
              </a:buClr>
              <a:buSzPct val="80000"/>
              <a:buFont typeface="Wingdings" panose="05000000000000000000" pitchFamily="2" charset="2"/>
              <a:buChar char="§"/>
            </a:pPr>
            <a:r>
              <a:rPr lang="en-IN" sz="1400" dirty="0">
                <a:solidFill>
                  <a:schemeClr val="tx1">
                    <a:lumMod val="75000"/>
                    <a:lumOff val="25000"/>
                  </a:schemeClr>
                </a:solidFill>
              </a:rPr>
              <a:t>This bar graph represents the average agricultural yield across three seasons: </a:t>
            </a:r>
          </a:p>
          <a:p>
            <a:pPr marL="285750" indent="-285750">
              <a:buClr>
                <a:schemeClr val="accent4"/>
              </a:buClr>
              <a:buSzPct val="80000"/>
              <a:buFont typeface="Wingdings" panose="05000000000000000000" pitchFamily="2" charset="2"/>
              <a:buChar char="§"/>
            </a:pPr>
            <a:r>
              <a:rPr lang="en-IN" sz="1400" dirty="0">
                <a:solidFill>
                  <a:schemeClr val="tx1">
                    <a:lumMod val="75000"/>
                    <a:lumOff val="25000"/>
                  </a:schemeClr>
                </a:solidFill>
              </a:rPr>
              <a:t>Kharif, Rabi, and Zaid</a:t>
            </a:r>
          </a:p>
          <a:p>
            <a:pPr marL="285750" indent="-285750">
              <a:buClr>
                <a:schemeClr val="accent4"/>
              </a:buClr>
              <a:buSzPct val="80000"/>
              <a:buFont typeface="Wingdings" panose="05000000000000000000" pitchFamily="2" charset="2"/>
              <a:buChar char="§"/>
            </a:pPr>
            <a:r>
              <a:rPr lang="en-IN" sz="1400" dirty="0">
                <a:solidFill>
                  <a:schemeClr val="tx1">
                    <a:lumMod val="75000"/>
                    <a:lumOff val="25000"/>
                  </a:schemeClr>
                </a:solidFill>
              </a:rPr>
              <a:t>Kharif has the highest average yield of around 5.6 tonnes per hectare, followed by Rabi at around 5.0 tonnes per hectare</a:t>
            </a:r>
          </a:p>
          <a:p>
            <a:pPr marL="285750" indent="-285750">
              <a:buClr>
                <a:schemeClr val="accent4"/>
              </a:buClr>
              <a:buSzPct val="80000"/>
              <a:buFont typeface="Wingdings" panose="05000000000000000000" pitchFamily="2" charset="2"/>
              <a:buChar char="§"/>
            </a:pPr>
            <a:r>
              <a:rPr lang="en-IN" sz="1400" dirty="0">
                <a:solidFill>
                  <a:schemeClr val="tx1">
                    <a:lumMod val="75000"/>
                    <a:lumOff val="25000"/>
                  </a:schemeClr>
                </a:solidFill>
              </a:rPr>
              <a:t>Zaid has the lowest average yield at around 4.6 tonnes per hectare</a:t>
            </a:r>
          </a:p>
          <a:p>
            <a:pPr marL="285750" indent="-285750">
              <a:buClr>
                <a:schemeClr val="accent4"/>
              </a:buClr>
              <a:buSzPct val="80000"/>
              <a:buFont typeface="Wingdings" panose="05000000000000000000" pitchFamily="2" charset="2"/>
              <a:buChar char="§"/>
            </a:pPr>
            <a:r>
              <a:rPr lang="en-IN" sz="1400" dirty="0">
                <a:solidFill>
                  <a:schemeClr val="tx1">
                    <a:lumMod val="75000"/>
                    <a:lumOff val="25000"/>
                  </a:schemeClr>
                </a:solidFill>
              </a:rPr>
              <a:t>From this graph, we can conclude that agricultural yield differs across seasons, with Kharif showing the highest average performance</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sz="3200" dirty="0"/>
              <a:t>RESULTS </a:t>
            </a:r>
            <a:endParaRPr lang="en-IN" sz="3200"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00F622F8-D397-78AE-BFBB-4F5AFF52282A}"/>
              </a:ext>
            </a:extLst>
          </p:cNvPr>
          <p:cNvSpPr>
            <a:spLocks noGrp="1"/>
          </p:cNvSpPr>
          <p:nvPr>
            <p:ph type="body" sz="quarter" idx="12"/>
          </p:nvPr>
        </p:nvSpPr>
        <p:spPr>
          <a:xfrm>
            <a:off x="895739" y="5362859"/>
            <a:ext cx="9843795" cy="1429828"/>
          </a:xfrm>
        </p:spPr>
        <p:txBody>
          <a:bodyPr>
            <a:noAutofit/>
          </a:bodyPr>
          <a:lstStyle/>
          <a:p>
            <a:pPr>
              <a:buFont typeface="Arial" panose="020B0604020202020204" pitchFamily="34" charset="0"/>
              <a:buChar char="•"/>
            </a:pPr>
            <a:r>
              <a:rPr lang="en-IN" sz="1400" dirty="0"/>
              <a:t>This graph represents production across three agricultural seasons</a:t>
            </a:r>
          </a:p>
          <a:p>
            <a:pPr>
              <a:buFont typeface="Arial" panose="020B0604020202020204" pitchFamily="34" charset="0"/>
              <a:buChar char="•"/>
            </a:pPr>
            <a:r>
              <a:rPr lang="en-IN" sz="1400" dirty="0"/>
              <a:t>Kharif has the highest average production of about 46 tonnes, followed by Rabi with about 41.5 tonnes. Zaid has the lowest production at about 39 tonnes</a:t>
            </a:r>
          </a:p>
          <a:p>
            <a:pPr>
              <a:buFont typeface="Arial" panose="020B0604020202020204" pitchFamily="34" charset="0"/>
              <a:buChar char="•"/>
            </a:pPr>
            <a:r>
              <a:rPr lang="en-IN" sz="1400" dirty="0"/>
              <a:t>Therefore, Kharif shows the highest production, while Zaid shows the lowest. The error bars indicate the variation in production values</a:t>
            </a:r>
          </a:p>
        </p:txBody>
      </p:sp>
      <p:pic>
        <p:nvPicPr>
          <p:cNvPr id="6" name="Picture 5">
            <a:extLst>
              <a:ext uri="{FF2B5EF4-FFF2-40B4-BE49-F238E27FC236}">
                <a16:creationId xmlns:a16="http://schemas.microsoft.com/office/drawing/2014/main" id="{FA83CBB0-9F77-0393-F93F-DC27FB6E643E}"/>
              </a:ext>
            </a:extLst>
          </p:cNvPr>
          <p:cNvPicPr>
            <a:picLocks noChangeAspect="1"/>
          </p:cNvPicPr>
          <p:nvPr/>
        </p:nvPicPr>
        <p:blipFill>
          <a:blip r:embed="rId3"/>
          <a:stretch>
            <a:fillRect/>
          </a:stretch>
        </p:blipFill>
        <p:spPr>
          <a:xfrm>
            <a:off x="1032247" y="786087"/>
            <a:ext cx="8121084" cy="4576771"/>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sz="3200" dirty="0"/>
              <a:t>RESULTS </a:t>
            </a:r>
            <a:endParaRPr lang="en-IN" sz="3200"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rot="10800000" flipV="1">
            <a:off x="1040427" y="5404936"/>
            <a:ext cx="10641497" cy="790591"/>
          </a:xfrm>
        </p:spPr>
        <p:txBody>
          <a:bodyPr>
            <a:noAutofit/>
          </a:bodyPr>
          <a:lstStyle/>
          <a:p>
            <a:r>
              <a:rPr lang="en-IN" sz="1400" dirty="0"/>
              <a:t>This pie chart represents the distribution of farms across different seasons</a:t>
            </a:r>
          </a:p>
          <a:p>
            <a:r>
              <a:rPr lang="en-IN" sz="1400" dirty="0"/>
              <a:t> Kharif accounts for 44.5% of the farms, Rabi accounts for 40.7%, and Zaid accounts for 14.8%</a:t>
            </a:r>
          </a:p>
          <a:p>
            <a:r>
              <a:rPr lang="en-IN" sz="1400" dirty="0"/>
              <a:t> Therefore, Kharif has the largest share of farms, while Zaid has the smallest share.</a:t>
            </a:r>
          </a:p>
        </p:txBody>
      </p:sp>
      <p:pic>
        <p:nvPicPr>
          <p:cNvPr id="2" name="Picture 1">
            <a:extLst>
              <a:ext uri="{FF2B5EF4-FFF2-40B4-BE49-F238E27FC236}">
                <a16:creationId xmlns:a16="http://schemas.microsoft.com/office/drawing/2014/main" id="{935DEFB4-FE53-AA7D-07EE-F33FC3A40633}"/>
              </a:ext>
            </a:extLst>
          </p:cNvPr>
          <p:cNvPicPr>
            <a:picLocks noChangeAspect="1"/>
          </p:cNvPicPr>
          <p:nvPr/>
        </p:nvPicPr>
        <p:blipFill>
          <a:blip r:embed="rId3"/>
          <a:stretch>
            <a:fillRect/>
          </a:stretch>
        </p:blipFill>
        <p:spPr>
          <a:xfrm>
            <a:off x="1862093" y="848382"/>
            <a:ext cx="5313079" cy="448277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sz="3200" dirty="0"/>
              <a:t>RESULTS </a:t>
            </a:r>
            <a:endParaRPr lang="en-IN" sz="3200"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675957" y="4990337"/>
            <a:ext cx="8766623" cy="1867663"/>
          </a:xfrm>
        </p:spPr>
        <p:txBody>
          <a:bodyPr>
            <a:noAutofit/>
          </a:bodyPr>
          <a:lstStyle/>
          <a:p>
            <a:pPr>
              <a:buFont typeface="Arial" panose="020B0604020202020204" pitchFamily="34" charset="0"/>
              <a:buChar char="•"/>
            </a:pPr>
            <a:r>
              <a:rPr lang="en-IN" sz="1200" dirty="0"/>
              <a:t>This scatter plot represents the relationship between rainfall and agricultural yield. Rainfall is shown on the X-axis and yield is shown on the Y-axis</a:t>
            </a:r>
          </a:p>
          <a:p>
            <a:pPr>
              <a:buFont typeface="Arial" panose="020B0604020202020204" pitchFamily="34" charset="0"/>
              <a:buChar char="•"/>
            </a:pPr>
            <a:r>
              <a:rPr lang="en-IN" sz="1200" dirty="0"/>
              <a:t> Each dot represents an observation. We can see that the data points are widely distributed, meaning rainfall alone does not determine yield</a:t>
            </a:r>
          </a:p>
          <a:p>
            <a:pPr>
              <a:buFont typeface="Arial" panose="020B0604020202020204" pitchFamily="34" charset="0"/>
              <a:buChar char="•"/>
            </a:pPr>
            <a:r>
              <a:rPr lang="en-IN" sz="1200" dirty="0"/>
              <a:t> Some higher yields occur at moderate to high rainfall levels, but there is considerable variation. Therefore, other factors such as farming practices, soil conditions, resources, and environmental conditions may also affect agricultural yield</a:t>
            </a:r>
          </a:p>
        </p:txBody>
      </p:sp>
      <p:pic>
        <p:nvPicPr>
          <p:cNvPr id="2" name="Picture 1">
            <a:extLst>
              <a:ext uri="{FF2B5EF4-FFF2-40B4-BE49-F238E27FC236}">
                <a16:creationId xmlns:a16="http://schemas.microsoft.com/office/drawing/2014/main" id="{823CADAC-38C0-BE35-82DC-3990B70DC6EC}"/>
              </a:ext>
            </a:extLst>
          </p:cNvPr>
          <p:cNvPicPr>
            <a:picLocks noChangeAspect="1"/>
          </p:cNvPicPr>
          <p:nvPr/>
        </p:nvPicPr>
        <p:blipFill>
          <a:blip r:embed="rId3"/>
          <a:stretch>
            <a:fillRect/>
          </a:stretch>
        </p:blipFill>
        <p:spPr>
          <a:xfrm>
            <a:off x="964314" y="926634"/>
            <a:ext cx="8189908" cy="3989918"/>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sz="3200" dirty="0"/>
              <a:t>RESULTS</a:t>
            </a:r>
            <a:r>
              <a:rPr lang="en-GB" dirty="0"/>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rot="10800000" flipV="1">
            <a:off x="675957" y="5252275"/>
            <a:ext cx="10840085" cy="1531079"/>
          </a:xfrm>
        </p:spPr>
        <p:txBody>
          <a:bodyPr>
            <a:noAutofit/>
          </a:bodyPr>
          <a:lstStyle/>
          <a:p>
            <a:pPr>
              <a:buFont typeface="Arial" panose="020B0604020202020204" pitchFamily="34" charset="0"/>
              <a:buChar char="•"/>
            </a:pPr>
            <a:r>
              <a:rPr lang="en-IN" sz="1200" dirty="0"/>
              <a:t>This histogram represents the distribution of disease and pest risk percentages</a:t>
            </a:r>
          </a:p>
          <a:p>
            <a:pPr>
              <a:buFont typeface="Arial" panose="020B0604020202020204" pitchFamily="34" charset="0"/>
              <a:buChar char="•"/>
            </a:pPr>
            <a:r>
              <a:rPr lang="en-IN" sz="1200" dirty="0"/>
              <a:t> The X-axis shows the risk percentage, while the Y-axis shows the frequency of observations</a:t>
            </a:r>
          </a:p>
          <a:p>
            <a:pPr>
              <a:buFont typeface="Arial" panose="020B0604020202020204" pitchFamily="34" charset="0"/>
              <a:buChar char="•"/>
            </a:pPr>
            <a:r>
              <a:rPr lang="en-IN" sz="1200" dirty="0"/>
              <a:t> Most of the observations are concentrated between 30% and 65%, with the highest frequency around 45% to 50%. Very low and very high risk values occur less frequently</a:t>
            </a:r>
          </a:p>
          <a:p>
            <a:pPr>
              <a:buFont typeface="Arial" panose="020B0604020202020204" pitchFamily="34" charset="0"/>
              <a:buChar char="•"/>
            </a:pPr>
            <a:r>
              <a:rPr lang="en-IN" sz="1200" dirty="0"/>
              <a:t>Overall, the distribution is approximately bell-shaped, showing that moderate disease and pest risk is most common in the dataset</a:t>
            </a:r>
          </a:p>
        </p:txBody>
      </p:sp>
      <p:pic>
        <p:nvPicPr>
          <p:cNvPr id="2" name="Picture 1">
            <a:extLst>
              <a:ext uri="{FF2B5EF4-FFF2-40B4-BE49-F238E27FC236}">
                <a16:creationId xmlns:a16="http://schemas.microsoft.com/office/drawing/2014/main" id="{944E9BA2-33B0-4EF4-A583-6C3E693405AE}"/>
              </a:ext>
            </a:extLst>
          </p:cNvPr>
          <p:cNvPicPr>
            <a:picLocks noChangeAspect="1"/>
          </p:cNvPicPr>
          <p:nvPr/>
        </p:nvPicPr>
        <p:blipFill>
          <a:blip r:embed="rId3"/>
          <a:stretch>
            <a:fillRect/>
          </a:stretch>
        </p:blipFill>
        <p:spPr>
          <a:xfrm>
            <a:off x="755044" y="1201586"/>
            <a:ext cx="9093494" cy="3976905"/>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32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8D485B57-B483-67C7-624A-924E4F8E732D}"/>
              </a:ext>
            </a:extLst>
          </p:cNvPr>
          <p:cNvSpPr txBox="1"/>
          <p:nvPr/>
        </p:nvSpPr>
        <p:spPr>
          <a:xfrm>
            <a:off x="320981" y="1941449"/>
            <a:ext cx="10651819" cy="3046988"/>
          </a:xfrm>
          <a:prstGeom prst="rect">
            <a:avLst/>
          </a:prstGeom>
          <a:noFill/>
        </p:spPr>
        <p:txBody>
          <a:bodyPr wrap="square" rtlCol="0">
            <a:spAutoFit/>
          </a:bodyPr>
          <a:lstStyle/>
          <a:p>
            <a:pPr marL="285750" indent="-285750">
              <a:buClr>
                <a:schemeClr val="accent4"/>
              </a:buClr>
              <a:buSzPct val="80000"/>
              <a:buFont typeface="Arial" panose="020B0604020202020204" pitchFamily="34" charset="0"/>
              <a:buChar char="•"/>
            </a:pPr>
            <a:r>
              <a:rPr lang="en-IN" sz="2400" b="1" dirty="0">
                <a:solidFill>
                  <a:schemeClr val="tx1">
                    <a:lumMod val="75000"/>
                    <a:lumOff val="25000"/>
                  </a:schemeClr>
                </a:solidFill>
              </a:rPr>
              <a:t>The future scope of this project is to extend the analysis using real-time data </a:t>
            </a:r>
          </a:p>
          <a:p>
            <a:pPr marL="285750" indent="-285750">
              <a:buClr>
                <a:schemeClr val="accent4"/>
              </a:buClr>
              <a:buSzPct val="80000"/>
              <a:buFont typeface="Arial" panose="020B0604020202020204" pitchFamily="34" charset="0"/>
              <a:buChar char="•"/>
            </a:pPr>
            <a:r>
              <a:rPr lang="en-IN" sz="2400" b="1" dirty="0">
                <a:solidFill>
                  <a:schemeClr val="tx1">
                    <a:lumMod val="75000"/>
                    <a:lumOff val="25000"/>
                  </a:schemeClr>
                </a:solidFill>
              </a:rPr>
              <a:t>We can predict crop yield, disease and pest risk, </a:t>
            </a:r>
            <a:r>
              <a:rPr lang="en-IN" sz="2400" b="1" dirty="0" err="1">
                <a:solidFill>
                  <a:schemeClr val="tx1">
                    <a:lumMod val="75000"/>
                    <a:lumOff val="25000"/>
                  </a:schemeClr>
                </a:solidFill>
              </a:rPr>
              <a:t>analyze</a:t>
            </a:r>
            <a:r>
              <a:rPr lang="en-IN" sz="2400" b="1" dirty="0">
                <a:solidFill>
                  <a:schemeClr val="tx1">
                    <a:lumMod val="75000"/>
                    <a:lumOff val="25000"/>
                  </a:schemeClr>
                </a:solidFill>
              </a:rPr>
              <a:t> different regions, optimize resource usage, and develop an interactive dashboard</a:t>
            </a:r>
          </a:p>
          <a:p>
            <a:pPr marL="285750" indent="-285750">
              <a:buClr>
                <a:schemeClr val="accent4"/>
              </a:buClr>
              <a:buSzPct val="80000"/>
              <a:buFont typeface="Arial" panose="020B0604020202020204" pitchFamily="34" charset="0"/>
              <a:buChar char="•"/>
            </a:pPr>
            <a:r>
              <a:rPr lang="en-IN" sz="2400" b="1" dirty="0">
                <a:solidFill>
                  <a:schemeClr val="tx1">
                    <a:lumMod val="75000"/>
                    <a:lumOff val="25000"/>
                  </a:schemeClr>
                </a:solidFill>
              </a:rPr>
              <a:t>These improvements can help farmers and agricultural stakeholders make better data-driven decisions for seasonal planning</a:t>
            </a:r>
            <a:r>
              <a:rPr lang="en-IN" sz="2400" dirty="0">
                <a:solidFill>
                  <a:schemeClr val="tx1">
                    <a:lumMod val="75000"/>
                    <a:lumOff val="25000"/>
                  </a:schemeClr>
                </a:solidFill>
              </a:rPr>
              <a:t> </a:t>
            </a:r>
          </a:p>
          <a:p>
            <a:pPr marL="285750" indent="-285750">
              <a:buClr>
                <a:schemeClr val="accent4"/>
              </a:buClr>
              <a:buSzPct val="80000"/>
              <a:buFont typeface="Arial" panose="020B0604020202020204" pitchFamily="34" charset="0"/>
              <a:buChar char="•"/>
            </a:pPr>
            <a:endParaRPr lang="en-IN" sz="2400" dirty="0">
              <a:solidFill>
                <a:schemeClr val="tx1">
                  <a:lumMod val="75000"/>
                  <a:lumOff val="25000"/>
                </a:schemeClr>
              </a:solidFill>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32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4F753C43-54C8-4009-60CD-56B7B3D02A68}"/>
              </a:ext>
            </a:extLst>
          </p:cNvPr>
          <p:cNvSpPr txBox="1"/>
          <p:nvPr/>
        </p:nvSpPr>
        <p:spPr>
          <a:xfrm>
            <a:off x="1194318" y="2950697"/>
            <a:ext cx="8984003" cy="369332"/>
          </a:xfrm>
          <a:prstGeom prst="rect">
            <a:avLst/>
          </a:prstGeom>
          <a:noFill/>
        </p:spPr>
        <p:txBody>
          <a:bodyPr wrap="square" rtlCol="0">
            <a:spAutoFit/>
          </a:bodyPr>
          <a:lstStyle/>
          <a:p>
            <a:r>
              <a:rPr lang="en-IN" dirty="0"/>
              <a:t>https://github.com/ramcharan09-bit/Seasonal-Agriculture-Performance-Analysis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99F3E01A-546B-B976-95E4-3C04C7DFA7C6}"/>
              </a:ext>
            </a:extLst>
          </p:cNvPr>
          <p:cNvPicPr>
            <a:picLocks noChangeAspect="1"/>
          </p:cNvPicPr>
          <p:nvPr/>
        </p:nvPicPr>
        <p:blipFill>
          <a:blip r:embed="rId3"/>
          <a:stretch>
            <a:fillRect/>
          </a:stretch>
        </p:blipFill>
        <p:spPr>
          <a:xfrm>
            <a:off x="886796" y="1451190"/>
            <a:ext cx="10261356" cy="5313504"/>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rot="10800000" flipV="1">
            <a:off x="-146498" y="2173519"/>
            <a:ext cx="11340000" cy="2468406"/>
          </a:xfrm>
          <a:prstGeom prst="rect">
            <a:avLst/>
          </a:prstGeom>
        </p:spPr>
        <p:txBody>
          <a:bodyPr anchor="ctr">
            <a:norm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1443</TotalTime>
  <Words>692</Words>
  <Application>Microsoft Office PowerPoint</Application>
  <PresentationFormat>Widescreen</PresentationFormat>
  <Paragraphs>58</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RAMCHARAN JUKANTI</cp:lastModifiedBy>
  <cp:revision>99</cp:revision>
  <dcterms:created xsi:type="dcterms:W3CDTF">2021-07-11T13:13:15Z</dcterms:created>
  <dcterms:modified xsi:type="dcterms:W3CDTF">2026-09-08T06:19:59Z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